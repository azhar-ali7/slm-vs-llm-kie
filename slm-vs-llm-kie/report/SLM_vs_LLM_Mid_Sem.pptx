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2"/>
    <p:restoredTop sz="94709"/>
  </p:normalViewPr>
  <p:slideViewPr>
    <p:cSldViewPr snapToGrid="0" snapToObjects="1">
      <p:cViewPr varScale="1">
        <p:scale>
          <a:sx n="143" d="100"/>
          <a:sy n="143" d="100"/>
        </p:scale>
        <p:origin x="26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 dirty="0">
                <a:solidFill>
                  <a:srgbClr val="1F3864"/>
                </a:solidFill>
                <a:latin typeface="Calibri"/>
              </a:rPr>
              <a:t>SLM vs LLM for Key Information Extraction</a:t>
            </a:r>
          </a:p>
          <a:p>
            <a:r>
              <a:rPr sz="4000" b="1" i="0" dirty="0">
                <a:solidFill>
                  <a:srgbClr val="1F3864"/>
                </a:solidFill>
                <a:latin typeface="Calibri"/>
              </a:rPr>
              <a:t>from Financial Documents</a:t>
            </a:r>
          </a:p>
          <a:p>
            <a:pPr>
              <a:spcBef>
                <a:spcPts val="1000"/>
              </a:spcBef>
            </a:pPr>
            <a:r>
              <a:rPr sz="2400" b="1" i="0" dirty="0">
                <a:solidFill>
                  <a:srgbClr val="2E74B5"/>
                </a:solidFill>
                <a:latin typeface="Calibri"/>
              </a:rPr>
              <a:t>Mid-Semester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886200"/>
            <a:ext cx="274320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 dirty="0">
                <a:solidFill>
                  <a:srgbClr val="222222"/>
                </a:solidFill>
                <a:latin typeface="Calibri"/>
              </a:rPr>
              <a:t>Azhar Ali   </a:t>
            </a:r>
            <a:r>
              <a:rPr lang="en-US" sz="2000" b="1" i="0" dirty="0">
                <a:solidFill>
                  <a:srgbClr val="222222"/>
                </a:solidFill>
                <a:latin typeface="Calibri"/>
              </a:rPr>
              <a:t>-</a:t>
            </a:r>
            <a:r>
              <a:rPr sz="2000" b="1" i="0" dirty="0">
                <a:solidFill>
                  <a:srgbClr val="222222"/>
                </a:solidFill>
                <a:latin typeface="Calibri"/>
              </a:rPr>
              <a:t>   BITS ID 2024AA05791</a:t>
            </a:r>
          </a:p>
          <a:p>
            <a:pPr>
              <a:spcAft>
                <a:spcPts val="600"/>
              </a:spcAft>
            </a:pPr>
            <a:r>
              <a:rPr sz="1700" b="0" i="0" dirty="0">
                <a:solidFill>
                  <a:srgbClr val="595959"/>
                </a:solidFill>
                <a:latin typeface="Calibri"/>
              </a:rPr>
              <a:t>M.Tech (AI &amp; ML)   </a:t>
            </a:r>
            <a:r>
              <a:rPr lang="en-US" sz="1700" b="0" i="0" dirty="0">
                <a:solidFill>
                  <a:srgbClr val="595959"/>
                </a:solidFill>
                <a:latin typeface="Calibri"/>
              </a:rPr>
              <a:t>-</a:t>
            </a:r>
            <a:r>
              <a:rPr sz="1700" b="0" i="0" dirty="0">
                <a:solidFill>
                  <a:srgbClr val="595959"/>
                </a:solidFill>
                <a:latin typeface="Calibri"/>
              </a:rPr>
              <a:t>   Course AIMLCZG628T</a:t>
            </a:r>
          </a:p>
          <a:p>
            <a:pPr>
              <a:spcAft>
                <a:spcPts val="600"/>
              </a:spcAft>
            </a:pPr>
            <a:r>
              <a:rPr sz="1500" b="0" i="0" dirty="0">
                <a:solidFill>
                  <a:srgbClr val="595959"/>
                </a:solidFill>
                <a:latin typeface="Calibri"/>
              </a:rPr>
              <a:t>Dissertation (BITS ZG628T)   </a:t>
            </a:r>
            <a:r>
              <a:rPr lang="en-US" sz="1500" b="0" i="0" dirty="0">
                <a:solidFill>
                  <a:srgbClr val="595959"/>
                </a:solidFill>
                <a:latin typeface="Calibri"/>
              </a:rPr>
              <a:t>-</a:t>
            </a:r>
            <a:r>
              <a:rPr sz="1500" b="0" i="0" dirty="0">
                <a:solidFill>
                  <a:srgbClr val="595959"/>
                </a:solidFill>
                <a:latin typeface="Calibri"/>
              </a:rPr>
              <a:t>   Supervisor: (</a:t>
            </a:r>
            <a:r>
              <a:rPr lang="en-US" sz="1500" b="0" i="0" dirty="0">
                <a:solidFill>
                  <a:srgbClr val="595959"/>
                </a:solidFill>
                <a:latin typeface="Calibri"/>
              </a:rPr>
              <a:t>Somiya Rout</a:t>
            </a:r>
            <a:r>
              <a:rPr sz="1500" b="0" i="0" dirty="0">
                <a:solidFill>
                  <a:srgbClr val="595959"/>
                </a:solidFill>
                <a:latin typeface="Calibri"/>
              </a:rPr>
              <a:t>)</a:t>
            </a:r>
          </a:p>
          <a:p>
            <a:pPr>
              <a:spcAft>
                <a:spcPts val="600"/>
              </a:spcAft>
            </a:pPr>
            <a:r>
              <a:rPr sz="1500" b="0" i="0" dirty="0">
                <a:solidFill>
                  <a:srgbClr val="595959"/>
                </a:solidFill>
                <a:latin typeface="Calibri"/>
              </a:rPr>
              <a:t>Birla Institute of Technology &amp; Science, Pilani   </a:t>
            </a:r>
            <a:r>
              <a:rPr lang="en-US" sz="1500" b="0" i="0" dirty="0">
                <a:solidFill>
                  <a:srgbClr val="595959"/>
                </a:solidFill>
                <a:latin typeface="Calibri"/>
              </a:rPr>
              <a:t>-</a:t>
            </a:r>
            <a:r>
              <a:rPr sz="1500" b="0" i="0" dirty="0">
                <a:solidFill>
                  <a:srgbClr val="595959"/>
                </a:solidFill>
                <a:latin typeface="Calibri"/>
              </a:rPr>
              <a:t> 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100" b="1" i="0" dirty="0">
                <a:solidFill>
                  <a:srgbClr val="2E74B5"/>
                </a:solidFill>
                <a:latin typeface="Calibri"/>
              </a:rPr>
              <a:t>•   </a:t>
            </a:r>
            <a:r>
              <a:rPr sz="2100" b="0" i="0" dirty="0">
                <a:solidFill>
                  <a:srgbClr val="222222"/>
                </a:solidFill>
                <a:latin typeface="Calibri"/>
              </a:rPr>
              <a:t>Introduction — problem, gap, research question, objectives, scope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100" b="1" i="0" dirty="0">
                <a:solidFill>
                  <a:srgbClr val="2E74B5"/>
                </a:solidFill>
                <a:latin typeface="Calibri"/>
              </a:rPr>
              <a:t>•   </a:t>
            </a:r>
            <a:r>
              <a:rPr sz="2100" b="0" i="0" dirty="0">
                <a:solidFill>
                  <a:srgbClr val="222222"/>
                </a:solidFill>
                <a:latin typeface="Calibri"/>
              </a:rPr>
              <a:t>Literature Review — four papers grounding the study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100" b="1" i="0" dirty="0">
                <a:solidFill>
                  <a:srgbClr val="2E74B5"/>
                </a:solidFill>
                <a:latin typeface="Calibri"/>
              </a:rPr>
              <a:t>•   </a:t>
            </a:r>
            <a:r>
              <a:rPr sz="2100" b="0" i="0" dirty="0">
                <a:solidFill>
                  <a:srgbClr val="222222"/>
                </a:solidFill>
                <a:latin typeface="Calibri"/>
              </a:rPr>
              <a:t>Research Methodology — the text-in extraction pipeline and framework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100" b="1" i="0" dirty="0">
                <a:solidFill>
                  <a:srgbClr val="2E74B5"/>
                </a:solidFill>
                <a:latin typeface="Calibri"/>
              </a:rPr>
              <a:t>•   </a:t>
            </a:r>
            <a:r>
              <a:rPr sz="2100" b="0" i="0" dirty="0">
                <a:solidFill>
                  <a:srgbClr val="222222"/>
                </a:solidFill>
                <a:latin typeface="Calibri"/>
              </a:rPr>
              <a:t>Data Collection — datasets, samples, test set, and the model registry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100" b="1" i="0" dirty="0">
                <a:solidFill>
                  <a:srgbClr val="2E74B5"/>
                </a:solidFill>
                <a:latin typeface="Calibri"/>
              </a:rPr>
              <a:t>•   </a:t>
            </a:r>
            <a:r>
              <a:rPr sz="2100" b="0" i="0" dirty="0">
                <a:solidFill>
                  <a:srgbClr val="222222"/>
                </a:solidFill>
                <a:latin typeface="Calibri"/>
              </a:rPr>
              <a:t>Results — the completed 11-model baseline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100" b="1" i="0" dirty="0">
                <a:solidFill>
                  <a:srgbClr val="2E74B5"/>
                </a:solidFill>
                <a:latin typeface="Calibri"/>
              </a:rPr>
              <a:t>•   </a:t>
            </a:r>
            <a:r>
              <a:rPr sz="2100" b="0" i="0" dirty="0">
                <a:solidFill>
                  <a:srgbClr val="222222"/>
                </a:solidFill>
                <a:latin typeface="Calibri"/>
              </a:rPr>
              <a:t>Key Findings &amp; Future Plan — what </a:t>
            </a:r>
            <a:r>
              <a:rPr lang="en-US" sz="2100" b="0" i="0" dirty="0">
                <a:solidFill>
                  <a:srgbClr val="222222"/>
                </a:solidFill>
                <a:latin typeface="Calibri"/>
              </a:rPr>
              <a:t>next </a:t>
            </a:r>
            <a:r>
              <a:rPr lang="en-US" sz="2100" dirty="0">
                <a:solidFill>
                  <a:srgbClr val="222222"/>
                </a:solidFill>
                <a:latin typeface="Calibri"/>
              </a:rPr>
              <a:t>p</a:t>
            </a:r>
            <a:r>
              <a:rPr sz="2100" b="0" i="0" dirty="0">
                <a:solidFill>
                  <a:srgbClr val="222222"/>
                </a:solidFill>
                <a:latin typeface="Calibri"/>
              </a:rPr>
              <a:t>hase will address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4B5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libri"/>
              </a:rPr>
              <a:t>Problem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2000" b="1" i="0">
                <a:solidFill>
                  <a:srgbClr val="1F3864"/>
                </a:solidFill>
                <a:latin typeface="Calibri"/>
              </a:rPr>
              <a:t>LLMs set the standard —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Large language models lead document extraction.</a:t>
            </a:r>
          </a:p>
          <a:p>
            <a:pPr lvl="1"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2E74B5"/>
                </a:solidFill>
                <a:latin typeface="Calibri"/>
              </a:rPr>
              <a:t>–   </a:t>
            </a:r>
            <a:r>
              <a:rPr sz="1900" b="0" i="0">
                <a:solidFill>
                  <a:srgbClr val="595959"/>
                </a:solidFill>
                <a:latin typeface="Calibri"/>
              </a:rPr>
              <a:t>but they are costly per call, high-latency, and cloud-only.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2000" b="1" i="0">
                <a:solidFill>
                  <a:srgbClr val="1F3864"/>
                </a:solidFill>
                <a:latin typeface="Calibri"/>
              </a:rPr>
              <a:t>Data cannot leave the building —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Banks and firms often cannot send data out.</a:t>
            </a:r>
          </a:p>
          <a:p>
            <a:pPr lvl="1"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2E74B5"/>
                </a:solidFill>
                <a:latin typeface="Calibri"/>
              </a:rPr>
              <a:t>–   </a:t>
            </a:r>
            <a:r>
              <a:rPr sz="1900" b="0" i="0">
                <a:solidFill>
                  <a:srgbClr val="595959"/>
                </a:solidFill>
                <a:latin typeface="Calibri"/>
              </a:rPr>
              <a:t>confidentiality and compliance frequently prohibit sending customer documents to an external API.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2000" b="1" i="0">
                <a:solidFill>
                  <a:srgbClr val="1F3864"/>
                </a:solidFill>
                <a:latin typeface="Calibri"/>
              </a:rPr>
              <a:t>The real need —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Accurate extraction that runs locally, cheaply, and privately on an organisation's own hardware.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4B5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libri"/>
              </a:rPr>
              <a:t>Research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20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2000" b="1" i="0">
                <a:solidFill>
                  <a:srgbClr val="1F3864"/>
                </a:solidFill>
                <a:latin typeface="Calibri"/>
              </a:rPr>
              <a:t>The claim: 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Recent work argues that small models — often a few billion parameters — are “good enough” for narrow, repetitive tasks, and far cheaper to run.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20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2000" b="1" i="0">
                <a:solidFill>
                  <a:srgbClr val="1F3864"/>
                </a:solidFill>
                <a:latin typeface="Calibri"/>
              </a:rPr>
              <a:t>The gap: 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The claim is unproven for real financial-document extraction.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sz="2000" b="1" i="0">
                <a:solidFill>
                  <a:srgbClr val="2E74B5"/>
                </a:solidFill>
                <a:latin typeface="Calibri"/>
              </a:rPr>
              <a:t>–   </a:t>
            </a:r>
            <a:r>
              <a:rPr sz="1900" b="0" i="0">
                <a:solidFill>
                  <a:srgbClr val="595959"/>
                </a:solidFill>
                <a:latin typeface="Calibri"/>
              </a:rPr>
              <a:t>It is unknown how small a model can be before extraction breaks down.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20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This dissertation tests the claim empirically, end to 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4B5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libri"/>
              </a:rPr>
              <a:t>Research Question &amp; Hypothesis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20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2000" b="1" i="0">
                <a:solidFill>
                  <a:srgbClr val="1F3864"/>
                </a:solidFill>
                <a:latin typeface="Calibri"/>
              </a:rPr>
              <a:t>Research question: 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Can small, locally-run language models match large LLMs on financial key information extraction — at lower cost and latency, and with better data privacy?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20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2000" b="1" i="0">
                <a:solidFill>
                  <a:srgbClr val="1F3864"/>
                </a:solidFill>
                <a:latin typeface="Calibri"/>
              </a:rPr>
              <a:t>Hypothesis: 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SLMs match LLMs on simple documents.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sz="2000" b="1" i="0">
                <a:solidFill>
                  <a:srgbClr val="2E74B5"/>
                </a:solidFill>
                <a:latin typeface="Calibri"/>
              </a:rPr>
              <a:t>–   </a:t>
            </a:r>
            <a:r>
              <a:rPr sz="1900" b="0" i="0">
                <a:solidFill>
                  <a:srgbClr val="595959"/>
                </a:solidFill>
                <a:latin typeface="Calibri"/>
              </a:rPr>
              <a:t>The gap widens as documents grow more complex.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sz="2000" b="1" i="0">
                <a:solidFill>
                  <a:srgbClr val="2E74B5"/>
                </a:solidFill>
                <a:latin typeface="Calibri"/>
              </a:rPr>
              <a:t>–   </a:t>
            </a:r>
            <a:r>
              <a:rPr sz="1900" b="0" i="0">
                <a:solidFill>
                  <a:srgbClr val="595959"/>
                </a:solidFill>
                <a:latin typeface="Calibri"/>
              </a:rPr>
              <a:t>SLMs win decisively on cost, latency, and privacy.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4B5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libri"/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Calibri"/>
              </a:rPr>
              <a:t>Determine whether small, locally-run models can match large LLMs for extracting key information from financial documents, and map the accuracy–efficiency trade-off.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900" b="1" i="0">
                <a:solidFill>
                  <a:srgbClr val="1F3864"/>
                </a:solidFill>
                <a:latin typeface="Calibri"/>
              </a:rPr>
              <a:t>Capability gap —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how closely small models approach large LLMs in extraction quality (F1).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900" b="1" i="0">
                <a:solidFill>
                  <a:srgbClr val="1F3864"/>
                </a:solidFill>
                <a:latin typeface="Calibri"/>
              </a:rPr>
              <a:t>Trade-off —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how accuracy scales against cost, latency, and memory across model sizes.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900" b="1" i="0">
                <a:solidFill>
                  <a:srgbClr val="1F3864"/>
                </a:solidFill>
                <a:latin typeface="Calibri"/>
              </a:rPr>
              <a:t>Viability limit —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the complexity point where small models stop being reliable.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900" b="1" i="0">
                <a:solidFill>
                  <a:srgbClr val="1F3864"/>
                </a:solidFill>
                <a:latin typeface="Calibri"/>
              </a:rPr>
              <a:t>Enterprise value —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the cost and privacy advantages of running models locally.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4B5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libri"/>
              </a:rPr>
              <a:t>Scope of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900" b="1" i="0">
                <a:solidFill>
                  <a:srgbClr val="1F3864"/>
                </a:solidFill>
                <a:latin typeface="Calibri"/>
              </a:rPr>
              <a:t>Task —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text-in key information extraction from financial documents (PDF → text → JSON).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900" b="1" i="0">
                <a:solidFill>
                  <a:srgbClr val="1F3864"/>
                </a:solidFill>
                <a:latin typeface="Calibri"/>
              </a:rPr>
              <a:t>Data —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public datasets SROIE (simple) and Kleister-Charity (complex), both with gold labels.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900" b="1" i="0">
                <a:solidFill>
                  <a:srgbClr val="1F3864"/>
                </a:solidFill>
                <a:latin typeface="Calibri"/>
              </a:rPr>
              <a:t>Models —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eleven models — eight small, locally-run SLMs and three large open-weight reference LLMs on serverless inference.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900" b="1" i="0">
                <a:solidFill>
                  <a:srgbClr val="1F3864"/>
                </a:solidFill>
                <a:latin typeface="Calibri"/>
              </a:rPr>
              <a:t>Conditions —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zero-shot and few-shot prompting with identical settings for a fair comparison.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900" b="1" i="0">
                <a:solidFill>
                  <a:srgbClr val="1F3864"/>
                </a:solidFill>
                <a:latin typeface="Calibri"/>
              </a:rPr>
              <a:t>Evaluation —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extraction quality (precision, recall, F1) and efficiency (latency, memory, cost).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4B5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libri"/>
              </a:rPr>
              <a:t>Literature Review — Four Papers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900" b="1" i="0">
                <a:solidFill>
                  <a:srgbClr val="1F3864"/>
                </a:solidFill>
                <a:latin typeface="Calibri"/>
              </a:rPr>
              <a:t>Paper 1  · 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Small Language Models are the Future of Agentic AI (Belcak et al., NVIDIA, 2025) — motivates using SLMs for narrow tasks.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900" b="1" i="0">
                <a:solidFill>
                  <a:srgbClr val="1F3864"/>
                </a:solidFill>
                <a:latin typeface="Calibri"/>
              </a:rPr>
              <a:t>Paper 2  · 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Are Small Language Models Ready to Compete with LLMs? (Sinha, Jain, Chadha, 2024) — a template for structured small-vs-large evaluation.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900" b="1" i="0">
                <a:solidFill>
                  <a:srgbClr val="1F3864"/>
                </a:solidFill>
                <a:latin typeface="Calibri"/>
              </a:rPr>
              <a:t>Paper 3  · 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Kleister: KIE Datasets with Long, Complex Documents (Stanisławek et al., ICDAR 2021) — the complex financial benchmark.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900" b="1" i="0">
                <a:solidFill>
                  <a:srgbClr val="1F3864"/>
                </a:solidFill>
                <a:latin typeface="Calibri"/>
              </a:rPr>
              <a:t>Paper 4  · 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SROIE: Scanned Receipt OCR and Information Extraction (Huang et al., ICDAR 2019) — the simple receipt benchmark and scoring protocol.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4B5"/>
                </a:solidFill>
                <a:latin typeface="Calibri"/>
              </a:rPr>
              <a:t>LITERATURE REVIEW ·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libri"/>
              </a:rPr>
              <a:t>Small Language Models are the Future of Agentic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2E74B5"/>
                </a:solidFill>
                <a:latin typeface="Calibri"/>
              </a:rPr>
              <a:t>Belcak, Heinrich, Diao, Fu, Dong, Muralidharan, Lin, Molchanov (NVIDIA) — arXiv:2506.02153,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The problem: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LLMs are the default, yet most real applications run a few narrow, repetitive tasks — overkill for a giant general model.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What they did: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A position paper arguing from capability, agent architecture, and economics that SLMs are the better fit.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Key finding: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SLMs are capable enough, far cheaper (often 10–30×), lower latency, and can run on edge or on-premise devices.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Why it matters here: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Motivates testing small models for a narrow task (financial KIE) instead of defaulting to a large LLM.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4B5"/>
                </a:solidFill>
                <a:latin typeface="Calibri"/>
              </a:rPr>
              <a:t>LITERATURE REVIEW ·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libri"/>
              </a:rPr>
              <a:t>Are Small Language Models Ready to Compete with LLMs?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2E74B5"/>
                </a:solidFill>
                <a:latin typeface="Calibri"/>
              </a:rPr>
              <a:t>Sinha, Jain, Chadha — arXiv:2406.11402, 2024 (rev. 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The problem: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State-of-the-art LLMs are often infeasible (cost, size, proprietary), but small models do not perform well universally.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What they did: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Proposes a framework to evaluate small open models across task types, domains, and prompt styles; compares ten SLMs.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Key finding: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Chosen appropriately, small models can beat some SOTA LLMs and even compete with GPT-4-class models.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Why it matters here: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A direct methodological template for this structured, prompt-aware small-vs-large comparison.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4B5"/>
                </a:solidFill>
                <a:latin typeface="Calibri"/>
              </a:rPr>
              <a:t>LITERATURE REVIEW · PAPER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libri"/>
              </a:rPr>
              <a:t>Kleister: KIE Datasets with Long, Complex-Layout Documents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2E74B5"/>
                </a:solidFill>
                <a:latin typeface="Calibri"/>
              </a:rPr>
              <a:t>Stanisławek et al. — Proceedings of ICDAR 2021 — arXiv:2105.05796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The problem: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Real KIE involves long, multi-page documents with complex layouts — harder than short receipts or forms.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What they did: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Introduces the Kleister datasets (incl. Kleister-Charity from financial reports) with names, dates, and monetary values.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Key finding: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Provides gold-annotated benchmarks and shows that long-document extraction is genuinely challenging.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Why it matters here: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Kleister-Charity is the complex, financial, multi-page dataset and ground-truth source for this study.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4B5"/>
                </a:solidFill>
                <a:latin typeface="Calibri"/>
              </a:rPr>
              <a:t>LITERATURE REVIEW · PAPER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libri"/>
              </a:rPr>
              <a:t>SROIE: Scanned Receipt OCR and Information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2E74B5"/>
                </a:solidFill>
                <a:latin typeface="Calibri"/>
              </a:rPr>
              <a:t>Huang, Chen, He, Bai, Karatzas, Lu, Jawahar — ICDAR 2019 Competition — arXiv:1905.13538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The problem: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Extracting a few key fields from scanned receipts is a common but non-trivial task, and lacked a shared, labelled benchmark.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What they did: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Introduces the SROIE task and dataset — receipts with gold labels for company, date, address, and total — and an entity-level F1 scoring protocol.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Key finding: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Establishes a widely-used benchmark; the constrained field set makes it a clean measure of extraction accuracy.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Why it matters here: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SROIE is the simple dataset and the scoring protocol used here — the complexity counterpart to Kleister.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4B5"/>
                </a:solidFill>
                <a:latin typeface="Calibri"/>
              </a:rPr>
              <a:t>RESEARCH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libri"/>
              </a:rPr>
              <a:t>Text-in Extraction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2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754" y="1828800"/>
            <a:ext cx="8718011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  <a:latin typeface="Calibri"/>
              </a:rPr>
              <a:t>A single document flows: extract text → build prompt (fields + JSON schema) → run model → parse JSON → compare to gold.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95959"/>
                </a:solidFill>
                <a:latin typeface="Calibri"/>
              </a:rPr>
              <a:t>Text only — no image or vision input. The same prompt and settings go to every model, which isolates the language model's extraction ability from OCR quality.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4B5"/>
                </a:solidFill>
                <a:latin typeface="Calibri"/>
              </a:rPr>
              <a:t>RESEARCH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libri"/>
              </a:rPr>
              <a:t>Evaluation Framework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91585"/>
            <a:ext cx="6766560" cy="25549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828800"/>
            <a:ext cx="448056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 dirty="0">
                <a:solidFill>
                  <a:srgbClr val="2E74B5"/>
                </a:solidFill>
                <a:latin typeface="Calibri"/>
              </a:rPr>
              <a:t>•   </a:t>
            </a:r>
            <a:r>
              <a:rPr sz="1500" b="1" i="0" dirty="0">
                <a:solidFill>
                  <a:srgbClr val="1F3864"/>
                </a:solidFill>
                <a:latin typeface="Calibri"/>
              </a:rPr>
              <a:t>Data layer — </a:t>
            </a:r>
            <a:r>
              <a:rPr sz="1500" b="0" i="0" dirty="0">
                <a:solidFill>
                  <a:srgbClr val="222222"/>
                </a:solidFill>
                <a:latin typeface="Calibri"/>
              </a:rPr>
              <a:t>dataset loaders + gold handling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 dirty="0">
                <a:solidFill>
                  <a:srgbClr val="2E74B5"/>
                </a:solidFill>
                <a:latin typeface="Calibri"/>
              </a:rPr>
              <a:t>•   </a:t>
            </a:r>
            <a:r>
              <a:rPr sz="1500" b="1" i="0" dirty="0">
                <a:solidFill>
                  <a:srgbClr val="1F3864"/>
                </a:solidFill>
                <a:latin typeface="Calibri"/>
              </a:rPr>
              <a:t>Preprocess — </a:t>
            </a:r>
            <a:r>
              <a:rPr sz="1500" b="0" i="0" dirty="0" err="1">
                <a:solidFill>
                  <a:srgbClr val="222222"/>
                </a:solidFill>
                <a:latin typeface="Calibri"/>
              </a:rPr>
              <a:t>normalise</a:t>
            </a:r>
            <a:r>
              <a:rPr sz="1500" b="0" i="0" dirty="0">
                <a:solidFill>
                  <a:srgbClr val="222222"/>
                </a:solidFill>
                <a:latin typeface="Calibri"/>
              </a:rPr>
              <a:t> OCR output into clean lines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 dirty="0">
                <a:solidFill>
                  <a:srgbClr val="2E74B5"/>
                </a:solidFill>
                <a:latin typeface="Calibri"/>
              </a:rPr>
              <a:t>•   </a:t>
            </a:r>
            <a:r>
              <a:rPr sz="1500" b="1" i="0" dirty="0">
                <a:solidFill>
                  <a:srgbClr val="1F3864"/>
                </a:solidFill>
                <a:latin typeface="Calibri"/>
              </a:rPr>
              <a:t>Prompt builder — </a:t>
            </a:r>
            <a:r>
              <a:rPr sz="1500" b="0" i="0" dirty="0">
                <a:solidFill>
                  <a:srgbClr val="222222"/>
                </a:solidFill>
                <a:latin typeface="Calibri"/>
              </a:rPr>
              <a:t>instruction + schema + document text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 dirty="0">
                <a:solidFill>
                  <a:srgbClr val="2E74B5"/>
                </a:solidFill>
                <a:latin typeface="Calibri"/>
              </a:rPr>
              <a:t>•   </a:t>
            </a:r>
            <a:r>
              <a:rPr sz="1500" b="1" i="0" dirty="0">
                <a:solidFill>
                  <a:srgbClr val="1F3864"/>
                </a:solidFill>
                <a:latin typeface="Calibri"/>
              </a:rPr>
              <a:t>Registry + runners — </a:t>
            </a:r>
            <a:r>
              <a:rPr sz="1500" b="0" i="0" dirty="0" err="1">
                <a:solidFill>
                  <a:srgbClr val="222222"/>
                </a:solidFill>
                <a:latin typeface="Calibri"/>
              </a:rPr>
              <a:t>Ollama</a:t>
            </a:r>
            <a:r>
              <a:rPr sz="1500" b="0" i="0" dirty="0">
                <a:solidFill>
                  <a:srgbClr val="222222"/>
                </a:solidFill>
                <a:latin typeface="Calibri"/>
              </a:rPr>
              <a:t> (local) and </a:t>
            </a:r>
            <a:r>
              <a:rPr sz="1500" b="0" i="0" dirty="0" err="1">
                <a:solidFill>
                  <a:srgbClr val="222222"/>
                </a:solidFill>
                <a:latin typeface="Calibri"/>
              </a:rPr>
              <a:t>DigitalOcean</a:t>
            </a:r>
            <a:r>
              <a:rPr sz="1500" b="0" i="0" dirty="0">
                <a:solidFill>
                  <a:srgbClr val="222222"/>
                </a:solidFill>
                <a:latin typeface="Calibri"/>
              </a:rPr>
              <a:t> (cloud)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 dirty="0">
                <a:solidFill>
                  <a:srgbClr val="2E74B5"/>
                </a:solidFill>
                <a:latin typeface="Calibri"/>
              </a:rPr>
              <a:t>•   </a:t>
            </a:r>
            <a:r>
              <a:rPr sz="1500" b="1" i="0" dirty="0">
                <a:solidFill>
                  <a:srgbClr val="1F3864"/>
                </a:solidFill>
                <a:latin typeface="Calibri"/>
              </a:rPr>
              <a:t>Parser — </a:t>
            </a:r>
            <a:r>
              <a:rPr sz="1500" b="0" i="0" dirty="0">
                <a:solidFill>
                  <a:srgbClr val="222222"/>
                </a:solidFill>
                <a:latin typeface="Calibri"/>
              </a:rPr>
              <a:t>read JSON,</a:t>
            </a:r>
            <a:endParaRPr lang="en-US" sz="1500" b="0" i="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 dirty="0">
                <a:solidFill>
                  <a:srgbClr val="2E74B5"/>
                </a:solidFill>
                <a:latin typeface="Calibri"/>
              </a:rPr>
              <a:t>•   </a:t>
            </a:r>
            <a:r>
              <a:rPr sz="1500" b="1" i="0" dirty="0">
                <a:solidFill>
                  <a:srgbClr val="1F3864"/>
                </a:solidFill>
                <a:latin typeface="Calibri"/>
              </a:rPr>
              <a:t>Metrics — </a:t>
            </a:r>
            <a:r>
              <a:rPr sz="1500" b="0" i="0" dirty="0">
                <a:solidFill>
                  <a:srgbClr val="222222"/>
                </a:solidFill>
                <a:latin typeface="Calibri"/>
              </a:rPr>
              <a:t>precision, recall, F1</a:t>
            </a:r>
            <a:endParaRPr lang="en-US" sz="15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 dirty="0">
                <a:solidFill>
                  <a:srgbClr val="2E74B5"/>
                </a:solidFill>
                <a:latin typeface="Calibri"/>
              </a:rPr>
              <a:t>•   </a:t>
            </a:r>
            <a:r>
              <a:rPr sz="1500" b="1" i="0" dirty="0">
                <a:solidFill>
                  <a:srgbClr val="1F3864"/>
                </a:solidFill>
                <a:latin typeface="Calibri"/>
              </a:rPr>
              <a:t>Efficiency — </a:t>
            </a:r>
            <a:r>
              <a:rPr sz="1500" b="0" i="0" dirty="0">
                <a:solidFill>
                  <a:srgbClr val="222222"/>
                </a:solidFill>
                <a:latin typeface="Calibri"/>
              </a:rPr>
              <a:t>latency, peak memory, throughput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4B5"/>
                </a:solidFill>
                <a:latin typeface="Calibri"/>
              </a:rPr>
              <a:t>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libri"/>
              </a:rPr>
              <a:t>Datasets — Simple to Complex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SROIE —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scanned receipts · simple baseline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–   </a:t>
            </a:r>
            <a:r>
              <a:rPr sz="1700" b="0" i="0">
                <a:solidFill>
                  <a:srgbClr val="595959"/>
                </a:solidFill>
                <a:latin typeface="Calibri"/>
              </a:rPr>
              <a:t>4 fields: company, date, address, total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–   </a:t>
            </a:r>
            <a:r>
              <a:rPr sz="1700" b="0" i="0">
                <a:solidFill>
                  <a:srgbClr val="595959"/>
                </a:solidFill>
                <a:latin typeface="Calibri"/>
              </a:rPr>
              <a:t>short, single-page documents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–   </a:t>
            </a:r>
            <a:r>
              <a:rPr sz="1700" b="0" i="0">
                <a:solidFill>
                  <a:srgbClr val="595959"/>
                </a:solidFill>
                <a:latin typeface="Calibri"/>
              </a:rPr>
              <a:t>scored with entity-level 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9202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Kleister-Charity —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UK charity annual reports · complex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–   </a:t>
            </a:r>
            <a:r>
              <a:rPr sz="1700" b="0" i="0">
                <a:solidFill>
                  <a:srgbClr val="595959"/>
                </a:solidFill>
                <a:latin typeface="Calibri"/>
              </a:rPr>
              <a:t>8 fields incl. monetary amounts &amp; dates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–   </a:t>
            </a:r>
            <a:r>
              <a:rPr sz="1700" b="0" i="0">
                <a:solidFill>
                  <a:srgbClr val="595959"/>
                </a:solidFill>
                <a:latin typeface="Calibri"/>
              </a:rPr>
              <a:t>long, multi-page documents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–   </a:t>
            </a:r>
            <a:r>
              <a:rPr sz="1700" b="0" i="0">
                <a:solidFill>
                  <a:srgbClr val="595959"/>
                </a:solidFill>
                <a:latin typeface="Calibri"/>
              </a:rPr>
              <a:t>realistic, bank-like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E74B5"/>
                </a:solidFill>
                <a:latin typeface="Calibri"/>
              </a:rPr>
              <a:t>The simple → complex pairing reveals exactly where the SLM–LLM gap opens up.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4B5"/>
                </a:solidFill>
                <a:latin typeface="Calibri"/>
              </a:rPr>
              <a:t>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libri"/>
              </a:rPr>
              <a:t>Dataset Sample &amp; Test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 dirty="0">
                <a:solidFill>
                  <a:srgbClr val="1F3864"/>
                </a:solidFill>
                <a:latin typeface="Calibri"/>
              </a:rPr>
              <a:t>SROIE — input → gold output</a:t>
            </a: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222222"/>
                </a:solidFill>
                <a:latin typeface="Consolas"/>
              </a:rPr>
              <a:t>BOOK TA .K (TAMAN DAYA) SDN BHD</a:t>
            </a: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222222"/>
                </a:solidFill>
                <a:latin typeface="Consolas"/>
              </a:rPr>
              <a:t>DATE: 25/12/2018   TOTAL: 9.00</a:t>
            </a:r>
          </a:p>
          <a:p>
            <a:pPr>
              <a:spcAft>
                <a:spcPts val="200"/>
              </a:spcAft>
            </a:pPr>
            <a:endParaRPr sz="1300" b="0" i="0" dirty="0">
              <a:solidFill>
                <a:srgbClr val="22222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222222"/>
                </a:solidFill>
                <a:latin typeface="Consolas"/>
              </a:rPr>
              <a:t>{ "company": "BOOK TA .K ...",</a:t>
            </a: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222222"/>
                </a:solidFill>
                <a:latin typeface="Consolas"/>
              </a:rPr>
              <a:t>  "date": "25/12/2018",</a:t>
            </a: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222222"/>
                </a:solidFill>
                <a:latin typeface="Consolas"/>
              </a:rPr>
              <a:t>  "address": "NO.53 ... JOHOR BAHRU",</a:t>
            </a: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222222"/>
                </a:solidFill>
                <a:latin typeface="Consolas"/>
              </a:rPr>
              <a:t>  "total": "9.00"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78308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3864"/>
                </a:solidFill>
                <a:latin typeface="Calibri"/>
              </a:rPr>
              <a:t>Kleister-Charity — gold fields (8)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{ "charity_name": "Smith Family Foundation",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"charity_number": "1093345",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"report_date": "2017-03-31",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"income_annually...": "1245000.00",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"spending_annually...": "1180500.00",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"address__post_town": "LONDON",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"address__postcode": "SW1A 1AA"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 dirty="0">
                <a:solidFill>
                  <a:srgbClr val="2E74B5"/>
                </a:solidFill>
                <a:latin typeface="Calibri"/>
              </a:rPr>
              <a:t>•   </a:t>
            </a:r>
            <a:r>
              <a:rPr sz="1600" b="1" i="0" dirty="0">
                <a:solidFill>
                  <a:srgbClr val="1F3864"/>
                </a:solidFill>
                <a:latin typeface="Calibri"/>
              </a:rPr>
              <a:t>Test set — </a:t>
            </a:r>
            <a:r>
              <a:rPr sz="1600" b="0" i="0" dirty="0">
                <a:solidFill>
                  <a:srgbClr val="222222"/>
                </a:solidFill>
                <a:latin typeface="Calibri"/>
              </a:rPr>
              <a:t>20 documents, seed-fixed (10 SROIE + 10 </a:t>
            </a:r>
            <a:r>
              <a:rPr sz="1600" b="0" i="0" dirty="0" err="1">
                <a:solidFill>
                  <a:srgbClr val="222222"/>
                </a:solidFill>
                <a:latin typeface="Calibri"/>
              </a:rPr>
              <a:t>Kleister</a:t>
            </a:r>
            <a:r>
              <a:rPr sz="1600" b="0" i="0" dirty="0">
                <a:solidFill>
                  <a:srgbClr val="222222"/>
                </a:solidFill>
                <a:latin typeface="Calibri"/>
              </a:rPr>
              <a:t>), frozen across the study.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4B5"/>
                </a:solidFill>
                <a:latin typeface="Calibri"/>
              </a:rPr>
              <a:t>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libri"/>
              </a:rPr>
              <a:t>The Models — Specs &amp;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20240" y="1783080"/>
          <a:ext cx="8321037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9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8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Vendor</a:t>
                      </a:r>
                    </a:p>
                  </a:txBody>
                  <a:tcPr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Params (B)</a:t>
                      </a:r>
                    </a:p>
                  </a:txBody>
                  <a:tcPr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License</a:t>
                      </a:r>
                    </a:p>
                  </a:txBody>
                  <a:tcPr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Arm</a:t>
                      </a:r>
                    </a:p>
                  </a:txBody>
                  <a:tcPr marT="25400" marB="25400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22222"/>
                          </a:solidFill>
                          <a:latin typeface="Calibri"/>
                        </a:rPr>
                        <a:t>SmolLM2-360M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Hugging Face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0.36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Apache-2.0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22222"/>
                          </a:solidFill>
                          <a:latin typeface="Calibri"/>
                        </a:rPr>
                        <a:t>Qwen2.5-0.5B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Alibaba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Apache-2.0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22222"/>
                          </a:solidFill>
                          <a:latin typeface="Calibri"/>
                        </a:rPr>
                        <a:t>Gemma-3-1B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Google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Gemma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22222"/>
                          </a:solidFill>
                          <a:latin typeface="Calibri"/>
                        </a:rPr>
                        <a:t>Llama-3.2-1B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Meta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1.24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Llama 3.2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22222"/>
                          </a:solidFill>
                          <a:latin typeface="Calibri"/>
                        </a:rPr>
                        <a:t>Gemma-2-2B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Google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Gemma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22222"/>
                          </a:solidFill>
                          <a:latin typeface="Calibri"/>
                        </a:rPr>
                        <a:t>Phi-4-mini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Microsoft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3.8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MIT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22222"/>
                          </a:solidFill>
                          <a:latin typeface="Calibri"/>
                        </a:rPr>
                        <a:t>Gemma-3-4B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Google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Gemma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22222"/>
                          </a:solidFill>
                          <a:latin typeface="Calibri"/>
                        </a:rPr>
                        <a:t>Mistral-7B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Mistral AI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Apache-2.0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22222"/>
                          </a:solidFill>
                          <a:latin typeface="Calibri"/>
                        </a:rPr>
                        <a:t>Gemma-4-31B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Google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Gemma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Cloud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22222"/>
                          </a:solidFill>
                          <a:latin typeface="Calibri"/>
                        </a:rPr>
                        <a:t>Llama-3.3-70B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Meta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Llama 3.3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Cloud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22222"/>
                          </a:solidFill>
                          <a:latin typeface="Calibri"/>
                        </a:rPr>
                        <a:t>GPT-OSS-120B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OpenAI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Apache-2.0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Cloud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95959"/>
                </a:solidFill>
                <a:latin typeface="Calibri"/>
              </a:rPr>
              <a:t>Eight local SLMs run through Ollama on an Apple M1 (8 GB); three large open-weight models run on DigitalOcean serverless inference.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4B5"/>
                </a:solidFill>
                <a:latin typeface="Calibri"/>
              </a:rPr>
              <a:t>RESEARCH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libri"/>
              </a:rPr>
              <a:t>Metrics — Quality &amp;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4B5"/>
                </a:solidFill>
                <a:latin typeface="Calibri"/>
              </a:rPr>
              <a:t>Extraction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91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4B5"/>
                </a:solidFill>
                <a:latin typeface="Calibri"/>
              </a:rPr>
              <a:t>Operational 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Precision —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of returned fields, how many are correct.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Recall —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of the true fields, how many are found.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F1 —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balanced P/R — the KIE standard.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Exact match —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every field of a document correct.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860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Latency —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time taken per document.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Memory —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peak RAM/VRAM while running.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Cost —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money per 1,000 documents processed.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800" b="1" i="0">
                <a:solidFill>
                  <a:srgbClr val="1F3864"/>
                </a:solidFill>
                <a:latin typeface="Calibri"/>
              </a:rPr>
              <a:t>Parse-fail rate —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share of unparseable outputs.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4B5"/>
                </a:solidFill>
                <a:latin typeface="Calibri"/>
              </a:rPr>
              <a:t>RESULTS TO DATE · 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libri"/>
              </a:rPr>
              <a:t>Results — 11-Model Standings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47113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2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4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4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6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26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40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40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423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Arm</a:t>
                      </a:r>
                    </a:p>
                  </a:txBody>
                  <a:tcPr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F1 zero</a:t>
                      </a:r>
                    </a:p>
                  </a:txBody>
                  <a:tcPr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F1 few</a:t>
                      </a:r>
                    </a:p>
                  </a:txBody>
                  <a:tcPr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Exact</a:t>
                      </a:r>
                    </a:p>
                  </a:txBody>
                  <a:tcPr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Lat (s)</a:t>
                      </a:r>
                    </a:p>
                  </a:txBody>
                  <a:tcPr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Cost/doc</a:t>
                      </a:r>
                    </a:p>
                  </a:txBody>
                  <a:tcPr marT="25400" marB="25400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22222"/>
                          </a:solidFill>
                          <a:latin typeface="Calibri"/>
                        </a:rPr>
                        <a:t>Llama-3.3-70B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cloud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0.601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0.733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0.200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16.3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$0.00136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22222"/>
                          </a:solidFill>
                          <a:latin typeface="Calibri"/>
                        </a:rPr>
                        <a:t>Gemma-4-31B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cloud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0.683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0.718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0.77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0.225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$0.00071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22222"/>
                          </a:solidFill>
                          <a:latin typeface="Calibri"/>
                        </a:rPr>
                        <a:t>Mistral-7B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0.578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0.705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0.61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0.200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34.2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$0.00014–0.00040*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22222"/>
                          </a:solidFill>
                          <a:latin typeface="Calibri"/>
                        </a:rPr>
                        <a:t>GPT-OSS-120B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cloud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0.646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0.665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0.050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$0.00075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22222"/>
                          </a:solidFill>
                          <a:latin typeface="Calibri"/>
                        </a:rPr>
                        <a:t>Gemma-2-2B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0.573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0.650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0.62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0.175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13.4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$0.00005–0.00017*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22222"/>
                          </a:solidFill>
                          <a:latin typeface="Calibri"/>
                        </a:rPr>
                        <a:t>Gemma-3-4B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0.647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0.632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0.61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0.59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0.050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17.1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$0.00012–0.00024*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22222"/>
                          </a:solidFill>
                          <a:latin typeface="Calibri"/>
                        </a:rPr>
                        <a:t>Phi-4-mini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3.8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0.587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0.469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0.34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0.150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10.1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$0.00011–0.00021*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22222"/>
                          </a:solidFill>
                          <a:latin typeface="Calibri"/>
                        </a:rPr>
                        <a:t>Qwen2.5-0.5B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0.337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0.425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0.37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0.37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4.2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$0.00003–0.00012*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22222"/>
                          </a:solidFill>
                          <a:latin typeface="Calibri"/>
                        </a:rPr>
                        <a:t>Gemma-3-1B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0.428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0.406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0.34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0.34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0.025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4.6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$0.00005–0.00012*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22222"/>
                          </a:solidFill>
                          <a:latin typeface="Calibri"/>
                        </a:rPr>
                        <a:t>SmolLM2-360M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0.36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0.350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0.263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0.18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0.18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4.1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$0.00003–0.00013*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22222"/>
                          </a:solidFill>
                          <a:latin typeface="Calibri"/>
                        </a:rPr>
                        <a:t>Llama-3.2-1B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0.529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0.025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7.1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Calibri"/>
                        </a:rPr>
                        <a:t>$0.00006–0.00022*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4B5"/>
                </a:solidFill>
                <a:latin typeface="Calibri"/>
              </a:rPr>
              <a:t>RESULTS TO DATE · 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libri"/>
              </a:rPr>
              <a:t>Results — Quality vs Size &amp;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lot_f1_vs_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83080"/>
            <a:ext cx="4992624" cy="35661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3492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Figure 3: F1 versus model size (log axis).</a:t>
            </a:r>
          </a:p>
        </p:txBody>
      </p:sp>
      <p:pic>
        <p:nvPicPr>
          <p:cNvPr id="7" name="Picture 6" descr="plot_cost_fro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783080"/>
            <a:ext cx="5349240" cy="35661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3492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Figure 4: Quality versus cost per document.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222222"/>
                </a:solidFill>
                <a:latin typeface="Calibri"/>
              </a:rPr>
              <a:t>F1 is flat past a few billion parameters; every competitive local model is several times cheaper than a cloud model of similar quality.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4B5"/>
                </a:solidFill>
                <a:latin typeface="Calibri"/>
              </a:rPr>
              <a:t>RESULTS TO DATE · 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libri"/>
              </a:rPr>
              <a:t>Results — Latency vs Size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lot_latency_vs_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645920"/>
            <a:ext cx="4992624" cy="35661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52344" y="525779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595959"/>
                </a:solidFill>
                <a:latin typeface="Calibri"/>
              </a:rPr>
              <a:t>Figure 5: Latency versus model size (local models).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53492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dirty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4B5"/>
                </a:solidFill>
                <a:latin typeface="Calibri"/>
              </a:rPr>
              <a:t>RESULTS TO DATE · 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libri"/>
              </a:rPr>
              <a:t>Results — Effects &amp; Per-field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lot_fiel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27" y="1809206"/>
            <a:ext cx="6528065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874519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500" b="1" i="0">
                <a:solidFill>
                  <a:srgbClr val="1F3864"/>
                </a:solidFill>
                <a:latin typeface="Calibri"/>
              </a:rPr>
              <a:t>Constrained decoding —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removed every output-format failure of the smallest model (31 of 80 → 0) and lifted its F1 in step.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500" b="1" i="0">
                <a:solidFill>
                  <a:srgbClr val="1F3864"/>
                </a:solidFill>
                <a:latin typeface="Calibri"/>
              </a:rPr>
              <a:t>Few-shot —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helps the larger models (Llama-3.3 +0.13) but can collapse the smallest (Llama-3.2-1B 0.53 → 0.03, copying the example).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500" b="1" i="0">
                <a:solidFill>
                  <a:srgbClr val="1F3864"/>
                </a:solidFill>
                <a:latin typeface="Calibri"/>
              </a:rPr>
              <a:t>Per-field —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simple receipt fields extract reliably; missed recall concentrates in the hard Kleister income and spending figures.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Figure 6: Per-field accuracy heatmap.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4B5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Calibri"/>
              </a:rPr>
              <a:t>Key Findings &amp; Future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700" b="1" i="0">
                <a:solidFill>
                  <a:srgbClr val="1F3864"/>
                </a:solidFill>
                <a:latin typeface="Calibri"/>
              </a:rPr>
              <a:t>Parameter count ≠ quality: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a 4B local model matches the 120B cloud model, and a 7B local model overtakes it.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700" b="1" i="0">
                <a:solidFill>
                  <a:srgbClr val="1F3864"/>
                </a:solidFill>
                <a:latin typeface="Calibri"/>
              </a:rPr>
              <a:t>Constrained decoding is the equaliser: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it lifts small models the most by removing malformed output.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</a:rPr>
              <a:t>•   </a:t>
            </a:r>
            <a:r>
              <a:rPr sz="1700" b="1" i="0">
                <a:solidFill>
                  <a:srgbClr val="1F3864"/>
                </a:solidFill>
                <a:latin typeface="Calibri"/>
              </a:rPr>
              <a:t>Local-first wins on economics: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every competitive local model dominates a paid model of similar F1 on cost, with no data leaving the machine.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672196"/>
              </p:ext>
            </p:extLst>
          </p:nvPr>
        </p:nvGraphicFramePr>
        <p:xfrm>
          <a:off x="640080" y="3977638"/>
          <a:ext cx="10881358" cy="2031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5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1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5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3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255">
                <a:tc>
                  <a:txBody>
                    <a:bodyPr/>
                    <a:lstStyle/>
                    <a:p>
                      <a:pPr algn="l"/>
                      <a:r>
                        <a:rPr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Window</a:t>
                      </a:r>
                    </a:p>
                  </a:txBody>
                  <a:tcPr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T="25400" marB="25400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25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22222"/>
                          </a:solidFill>
                          <a:latin typeface="Calibri"/>
                        </a:rPr>
                        <a:t>Baseline (Phase 2)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Feb–Jun 2026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Framework + 11-model baseline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25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22222"/>
                          </a:solidFill>
                          <a:latin typeface="Calibri"/>
                        </a:rPr>
                        <a:t>Fine-tuning (Phase 3)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22222"/>
                          </a:solidFill>
                          <a:latin typeface="Calibri"/>
                        </a:rPr>
                        <a:t>Jul 2026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QLoRA on phi4-mini + mistral-7b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25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22222"/>
                          </a:solidFill>
                          <a:latin typeface="Calibri"/>
                        </a:rPr>
                        <a:t>Recall lift (Phase 3)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222222"/>
                          </a:solidFill>
                          <a:latin typeface="Calibri"/>
                        </a:rPr>
                        <a:t>July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Calibri"/>
                        </a:rPr>
                        <a:t>–</a:t>
                      </a:r>
                      <a:r>
                        <a:rPr lang="en-US" sz="1200" b="0" i="0" dirty="0">
                          <a:solidFill>
                            <a:srgbClr val="222222"/>
                          </a:solidFill>
                          <a:latin typeface="Calibri"/>
                        </a:rPr>
                        <a:t>Aug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Calibri"/>
                        </a:rPr>
                        <a:t> 2026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Self-consistency + regex recovery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T="12700" marB="127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255">
                <a:tc>
                  <a:txBody>
                    <a:bodyPr/>
                    <a:lstStyle/>
                    <a:p>
                      <a:pPr algn="l"/>
                      <a:endParaRPr sz="1200" b="1" i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200" b="0" i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200" b="0" i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200" b="0" i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Thank You  ·  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297680"/>
            <a:ext cx="10515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 dirty="0">
                <a:solidFill>
                  <a:srgbClr val="595959"/>
                </a:solidFill>
                <a:latin typeface="Calibri"/>
              </a:rPr>
              <a:t>Azhar Ali   ·   2024AA05791   ·   Mid-Semester,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2208</Words>
  <Application>Microsoft Macintosh PowerPoint</Application>
  <PresentationFormat>Widescreen</PresentationFormat>
  <Paragraphs>359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AZHAR ALI .</cp:lastModifiedBy>
  <cp:revision>8</cp:revision>
  <dcterms:created xsi:type="dcterms:W3CDTF">2013-01-27T09:14:16Z</dcterms:created>
  <dcterms:modified xsi:type="dcterms:W3CDTF">2026-07-05T04:06:51Z</dcterms:modified>
  <cp:category/>
</cp:coreProperties>
</file>