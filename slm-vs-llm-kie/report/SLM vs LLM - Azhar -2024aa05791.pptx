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31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2801-CEE2-399C-51AA-DB09B848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1B57A-DA0C-0B68-93C2-0EBE9E062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B8C5E-C3CA-D19C-DFA3-DF251F362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F2276-0714-FBBF-8264-E661ED7A6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502920"/>
            <a:ext cx="1188720" cy="11887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vs. Large Language Models for</a:t>
            </a:r>
            <a:endParaRPr lang="en-US" sz="2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Information Extraction from Financial Documents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 Ali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BITS ID 2024AA05791   ·   M.Tech AI &amp; ML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AIMLCZG628T   ·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16244E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lead document extraction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269748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Gemini, Claude set the standard — but they are costly, high-latency, and cloud-only.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64408" y="12344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1463040"/>
            <a:ext cx="457200" cy="457200"/>
          </a:xfrm>
          <a:prstGeom prst="ellipse">
            <a:avLst/>
          </a:prstGeom>
          <a:solidFill>
            <a:srgbClr val="16244E"/>
          </a:solidFill>
          <a:ln/>
        </p:spPr>
      </p:sp>
      <p:sp>
        <p:nvSpPr>
          <p:cNvPr id="12" name="Text 9"/>
          <p:cNvSpPr/>
          <p:nvPr/>
        </p:nvSpPr>
        <p:spPr>
          <a:xfrm>
            <a:off x="34930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65576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 cannot send data out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65576" y="269748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and compliance often prohibit transmitting customer documents to external APIs.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71616" y="123444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0216" y="1463040"/>
            <a:ext cx="457200" cy="457200"/>
          </a:xfrm>
          <a:prstGeom prst="ellipse">
            <a:avLst/>
          </a:prstGeom>
          <a:solidFill>
            <a:srgbClr val="16244E"/>
          </a:solidFill>
          <a:ln/>
        </p:spPr>
      </p:sp>
      <p:sp>
        <p:nvSpPr>
          <p:cNvPr id="17" name="Text 14"/>
          <p:cNvSpPr/>
          <p:nvPr/>
        </p:nvSpPr>
        <p:spPr>
          <a:xfrm>
            <a:off x="630021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72784" y="20574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need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72784" y="269748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extraction that runs locally, cheaply, and privately on an organisation's own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claim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argues small models (often a few-billion parameters) are “good enough” for narrow, repetitive tasks — and far cheaper to run.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FBEEE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for real financial-document extraction.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how small you can go before extraction breaks down.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dissertation tests the claim empirically, end to end.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Hypothesis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2834640"/>
          </a:xfrm>
          <a:prstGeom prst="roundRect">
            <a:avLst>
              <a:gd name="adj" fmla="val 1935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small, locally-run language models match large LLMs on financial key information extraction — at lower cost and latency, and with better data privacy?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77640" cy="2834640"/>
          </a:xfrm>
          <a:prstGeom prst="roundRect">
            <a:avLst>
              <a:gd name="adj" fmla="val 193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196596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match LLMs on simple documents.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as documents grow complex.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win decisively on cost, latency &amp; privacy.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7899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07899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1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whether small, locally-run models can match large LLMs for extracting key information from financial documents, and to map the accuracy–efficiency trade-off.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01952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2037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20116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gap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80160" y="2340864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small models approach large LLMs in extraction quality (F1).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901952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20370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0" y="20116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486400" y="2340864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accuracy scales against cost, latency, and memory across sizes.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4107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80160" y="32186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Viability limit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80160" y="3547872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point where small models stop being reliable.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63440" y="310896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34107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486400" y="321868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value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486400" y="3547872"/>
            <a:ext cx="3063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and privacy advantages of running models locally.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Work — In Scope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EAF6F0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63040"/>
            <a:ext cx="329184" cy="329184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8" name="Text 4"/>
          <p:cNvSpPr/>
          <p:nvPr/>
        </p:nvSpPr>
        <p:spPr>
          <a:xfrm>
            <a:off x="1234440" y="14173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788920" y="141732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Text-in key information extraction from financial documents (PDF → text → JSON).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2011680"/>
            <a:ext cx="329184" cy="329184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2" name="Text 7"/>
          <p:cNvSpPr/>
          <p:nvPr/>
        </p:nvSpPr>
        <p:spPr>
          <a:xfrm>
            <a:off x="1234440" y="1965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788920" y="196596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datasets: SROIE (simple) and Kleister-Charity (complex), both with gold labels.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31520" y="2560320"/>
            <a:ext cx="329184" cy="329184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6" name="Text 10"/>
          <p:cNvSpPr/>
          <p:nvPr/>
        </p:nvSpPr>
        <p:spPr>
          <a:xfrm>
            <a:off x="1234440" y="2514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2788920" y="251460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models — six small, locally-run SLMs and two large reference LLMs.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31520" y="3108960"/>
            <a:ext cx="329184" cy="329184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0" name="Text 13"/>
          <p:cNvSpPr/>
          <p:nvPr/>
        </p:nvSpPr>
        <p:spPr>
          <a:xfrm>
            <a:off x="1234440" y="30632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2788920" y="306324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 prompting, with identical settings for fair comparison.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4" name="Text 16"/>
          <p:cNvSpPr/>
          <p:nvPr/>
        </p:nvSpPr>
        <p:spPr>
          <a:xfrm>
            <a:off x="1234440" y="36118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2788920" y="361188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quality (precision, recall, F1) and efficiency (latency, memory, cost).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— Paper 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2161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Language Models are the Future of Agentic AI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Belcak, Heinrich, Diao, Fu, Dong, Muralidharan, Lin, Molchanov (NVIDIA) — arXiv:2506.02153,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14600" y="2057400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the default, yet most real apps run a few narrow, repetitive tasks — overkill for a giant general model.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734056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did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514600" y="2734056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paper arguing from capability, agent architecture, and economics that SLMs are the better fit.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3741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4107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514600" y="3410712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are powerful enough, far cheaper (often 10–30×), lower latency, and can run on edge / on-prem devices.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873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here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514600" y="4087368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testing small models for our narrow task (financial KIE) instead of defaulting to a large LLM.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— Paper 2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2161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Small Language Models Ready to Compete with LLMs for Practical Applications?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Sinha, Jain, Chadha — arXiv:2406.11402, 2024 (rev. 2025)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14600" y="2057400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LLMs are often infeasible (cost, size, proprietary), but small models do not perform well universally.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734056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did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514600" y="2734056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framework to evaluate small open models across task types, domains, and prompt styles; compares 10 SLMs.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3741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4107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514600" y="3410712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appropriately, small models can beat some SOTA LLMs and even compete with GPT-4-class models.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873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here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514600" y="4087368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methodological template for our structured, prompt-aware small-vs-large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— Paper 3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2161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Kleister: Key Information Extraction Datasets Involving Long Documents with Complex Layouts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Stanisławek et al. — In Proceedings of ICDAR 2021 — arXiv:2105.05796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514600" y="2057400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KIE involves long, multi-page documents with complex layouts — harder than short receipts or forms.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734056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did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514600" y="2734056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the Kleister datasets (incl. Kleister-Charity from financial reports) with names, dates, monetary values.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374136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4107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514600" y="3410712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gold-annotated benchmarks; shows long-document extraction is genuinely challenging.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873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here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514600" y="4087368"/>
            <a:ext cx="6172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 err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Kleister</a:t>
            </a: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-Charity is complex, financial, multi-page dataset and ground-truth source.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 — Specs &amp; Access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188720"/>
          <a:ext cx="7223760" cy="263347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SmolLM2-360M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Qwen2.5-0.5B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Llama-3.2-1B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Gemma-2-2B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/ Claude 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open 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Llama-70B / DeepSeek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— Simple to Complex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SROIE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receipts · simple baseline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fields: company, date, address, total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single-page documents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with entity-level F1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Kleister-Charity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financial reports · complex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224028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fields incl. monetary amounts &amp; dates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multi-page documents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bank-like extraction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→ complex pairing reveals exactly where the SLM–LLM gap opens up.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Sample (Representative Format)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SROIE — input → gold output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664208"/>
            <a:ext cx="3611880" cy="96012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700784"/>
            <a:ext cx="345643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TA .K (TAMAN DAYA) SDN BHD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NO.53 55,57 &amp; 59, JALAN SAGU 18,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 DAYA, 81100 JOHOR BAHRU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25/12/2018   TOTAL: 9.00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" y="2724912"/>
            <a:ext cx="3611880" cy="1371600"/>
          </a:xfrm>
          <a:prstGeom prst="rect">
            <a:avLst/>
          </a:prstGeom>
          <a:solidFill>
            <a:srgbClr val="0E2A2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61488"/>
            <a:ext cx="345643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"company": "BOOK TA .K (TAMAN DAYA) SDN BHD",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"25/12/2018",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"NO.53 55,57 &amp; 59, JALAN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SAGU 18, 81100 JOHOR BAHRU",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"total": "9.00"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Kleister-Charity — gold fields (8)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92040" y="1664208"/>
            <a:ext cx="3611880" cy="2432304"/>
          </a:xfrm>
          <a:prstGeom prst="rect">
            <a:avLst/>
          </a:prstGeom>
          <a:solidFill>
            <a:srgbClr val="0E2A24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1700784"/>
            <a:ext cx="3456432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"charity_name": "Smith Family Foundation",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"charity_number": "1093345",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"report_date": "2017-03-31",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"income_annually_in_british_pounds":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"1245000.00",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"spending_annually_in_british_pounds":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"1180500.00",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"address__post_town": "LONDON",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"address__postcode": "SW1A 1AA",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"address__street_line": "10 Downing St"</a:t>
            </a:r>
            <a:endParaRPr lang="en-US" sz="8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8F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Text-in Pipeline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55064" y="1965960"/>
            <a:ext cx="265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7452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7452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72384" y="1965960"/>
            <a:ext cx="265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9184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(fields + JSON)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9704" y="1965960"/>
            <a:ext cx="265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70916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0916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07024" y="1965960"/>
            <a:ext cx="265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2648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24344" y="1965960"/>
            <a:ext cx="265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543800" y="1965960"/>
            <a:ext cx="1225296" cy="1097280"/>
          </a:xfrm>
          <a:prstGeom prst="roundRect">
            <a:avLst>
              <a:gd name="adj" fmla="val 5000"/>
            </a:avLst>
          </a:prstGeom>
          <a:solidFill>
            <a:srgbClr val="16244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43800" y="1965960"/>
            <a:ext cx="1225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gold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 — no image or vision input. The same prompt and settings go to every model.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 Architecture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" y="1472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Task / Prompt Store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1792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+ 20 ground-truth documents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64408" y="1325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EAF6F0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1472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Model Adapter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429000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for local (Ollama) &amp; API models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71616" y="132588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36208" y="1472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Runner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36208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output, time taken, tokens used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8895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JSON Parser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1792" y="33467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output into structured fields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64408" y="274320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429000" y="28895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Metric Collector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429000" y="33467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quality + efficiency scores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71616" y="274320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36208" y="28895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Results &amp; Charts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36208" y="334670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results; plots the frontier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— Extraction Quality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07008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68880" y="1207008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fields the model returned, how many were correct.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0" y="1207008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wrong or hallucinated values.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975104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975104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68880" y="1975104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true fields, how many the model found.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75104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missed fields.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743200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468880" y="2743200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combination of precision and recall.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0" y="2743200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fair score — the KIE standard.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511296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511296"/>
            <a:ext cx="1737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match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468880" y="3511296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each field value matches the gold answer exactly.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0" y="3511296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Strict, unambiguous correctness.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475488" cy="475488"/>
          </a:xfrm>
          <a:prstGeom prst="ellipse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78992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4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— Operational Efficiency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37160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1371600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per document.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for real-time and high-volume use.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28600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468880" y="2286000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 / VRAM while running.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0" y="2286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it fits cheap, on-prem hardware.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20040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68880" y="3200400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per 1,000 documents processed.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0" y="32004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avoid API fees — and keep data in-house.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73F56-D31F-D304-81FC-4C22BAFB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9">
            <a:extLst>
              <a:ext uri="{FF2B5EF4-FFF2-40B4-BE49-F238E27FC236}">
                <a16:creationId xmlns:a16="http://schemas.microsoft.com/office/drawing/2014/main" id="{40060B26-1DA4-D90A-DF44-5C12328DED70}"/>
              </a:ext>
            </a:extLst>
          </p:cNvPr>
          <p:cNvSpPr/>
          <p:nvPr/>
        </p:nvSpPr>
        <p:spPr>
          <a:xfrm>
            <a:off x="457200" y="230459"/>
            <a:ext cx="8229600" cy="4661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Azhar Ali  ·  2024AA05791  ·  Thank you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1183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1351</Words>
  <Application>Microsoft Macintosh PowerPoint</Application>
  <PresentationFormat>On-screen Show (16:9)</PresentationFormat>
  <Paragraphs>252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SLM vs LLM for KIE from Financial Documents</dc:title>
  <dc:subject>PptxGenJS Presentation</dc:subject>
  <dc:creator>Azhar Ali</dc:creator>
  <cp:lastModifiedBy>AZHAR ALI .</cp:lastModifiedBy>
  <cp:revision>4</cp:revision>
  <dcterms:created xsi:type="dcterms:W3CDTF">2026-06-08T04:23:53Z</dcterms:created>
  <dcterms:modified xsi:type="dcterms:W3CDTF">2026-06-08T10:51:41Z</dcterms:modified>
</cp:coreProperties>
</file>